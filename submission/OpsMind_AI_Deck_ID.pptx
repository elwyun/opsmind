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embeddedFontLst>
    <p:embeddedFont>
      <p:font typeface="Google Sans Flex" panose="020B0604020202020204" charset="0"/>
      <p:regular r:id="rId19"/>
      <p:bold r:id="rId20"/>
    </p:embeddedFont>
    <p:embeddedFont>
      <p:font typeface="Google Sans Flex Medium" panose="020B0604020202020204" charset="0"/>
      <p:regular r:id="rId21"/>
      <p:bold r:id="rId22"/>
    </p:embeddedFont>
    <p:embeddedFont>
      <p:font typeface="Google Sans Flex SemiBold" panose="020B0604020202020204" charset="0"/>
      <p:regular r:id="rId23"/>
      <p:bold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7" d="100"/>
          <a:sy n="77" d="100"/>
        </p:scale>
        <p:origin x="793" y="49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font" Target="fonts/font1.fntdata"/><Relationship Id="rId20" Type="http://schemas.openxmlformats.org/officeDocument/2006/relationships/font" Target="fonts/font2.fntdata"/><Relationship Id="rId21" Type="http://schemas.openxmlformats.org/officeDocument/2006/relationships/font" Target="fonts/font3.fntdata"/><Relationship Id="rId22" Type="http://schemas.openxmlformats.org/officeDocument/2006/relationships/font" Target="fonts/font4.fntdata"/><Relationship Id="rId23" Type="http://schemas.openxmlformats.org/officeDocument/2006/relationships/font" Target="fonts/font5.fntdata"/><Relationship Id="rId24" Type="http://schemas.openxmlformats.org/officeDocument/2006/relationships/font" Target="fonts/font6.fntdata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7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300"/>
              </a:spcAft>
              <a:buNone/>
            </a:pPr>
            <a:r>
              <a:rPr sz="2200" b="1">
                <a:solidFill>
                  <a:srgbClr val="0E3A5C"/>
                </a:solidFill>
                <a:latin typeface="Arial"/>
              </a:rPr>
              <a:t>OpsMind — AI Operational Intelligence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0D7D78"/>
                </a:solidFill>
                <a:latin typeface="Arial"/>
              </a:rPr>
              <a:t>Google Cloud AI Builder Cup 2026 · JAPAC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334155"/>
                </a:solidFill>
                <a:latin typeface="Arial"/>
              </a:rPr>
              <a:t>Tim: ABB Catalyst   ·   Ketua: Alwi Hamzah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334155"/>
                </a:solidFill>
                <a:latin typeface="Arial"/>
              </a:rPr>
              <a:t>Masalah: data operasi terpisah; lonjakan listrik tidak selalu terlihat dari produksi.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334155"/>
                </a:solidFill>
                <a:latin typeface="Arial"/>
              </a:rPr>
              <a:t>Prototipe: metrik deterministik + penjelasan Gemini. AI menyarankan; manusia memutuskan.</a:t>
            </a: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4572000" y="1325880"/>
            <a:ext cx="4160520" cy="3291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500"/>
              </a:spcAft>
              <a:buNone/>
            </a:pPr>
            <a:r>
              <a:rPr sz="1600" b="1">
                <a:solidFill>
                  <a:srgbClr val="0E3A5C"/>
                </a:solidFill>
                <a:latin typeface="Arial"/>
              </a:rPr>
              <a:t>Ringkasan eksekutif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0">
                <a:solidFill>
                  <a:srgbClr val="334155"/>
                </a:solidFill>
                <a:latin typeface="Arial"/>
              </a:rPr>
              <a:t>Data operasi terpisah antara produksi, listrik, jam operasi dan cuaca.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0">
                <a:solidFill>
                  <a:srgbClr val="334155"/>
                </a:solidFill>
                <a:latin typeface="Arial"/>
              </a:rPr>
              <a:t>OpsMind menghitung intensitas, baseline, deviasi dan estimasi biaya potensial.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0">
                <a:solidFill>
                  <a:srgbClr val="334155"/>
                </a:solidFill>
                <a:latin typeface="Arial"/>
              </a:rPr>
              <a:t>Gemini hanya menjelaskan bukti yang diberikan dan menyebut data yang belum tersedia.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0">
                <a:solidFill>
                  <a:srgbClr val="334155"/>
                </a:solidFill>
                <a:latin typeface="Arial"/>
              </a:rPr>
              <a:t>Model tidak menghitung angka. Semua data demo berlabel SIMULATED DATA.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>
                <a:solidFill>
                  <a:srgbClr val="0D7D78"/>
                </a:solidFill>
                <a:latin typeface="Arial"/>
              </a:rPr>
              <a:t>AI menyarankan; manusia memutuskan.</a:t>
            </a:r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dist="19050" dir="5400000" algn="bl" rotWithShape="0">
              <a:schemeClr val="lt1">
                <a:alpha val="50000"/>
              </a:scheme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E3A5C"/>
                </a:solidFill>
                <a:latin typeface="Arial"/>
              </a:rPr>
              <a:t>Ringkasan ide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502920" y="1234440"/>
            <a:ext cx="81381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defRPr sz="2000">
                <a:solidFill>
                  <a:srgbClr val="1E1E1E"/>
                </a:solidFill>
              </a:defRPr>
            </a:pPr>
            <a:r>
              <a:rPr sz="1200" b="0">
                <a:solidFill>
                  <a:srgbClr val="334155"/>
                </a:solidFill>
                <a:latin typeface="Arial"/>
              </a:rPr>
              <a:t>• OpsMind adalah prototipe AI Operational Intelligence untuk manufaktur kecil–menengah.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34155"/>
                </a:solidFill>
                <a:latin typeface="Arial"/>
              </a:rPr>
              <a:t>• Menghitung intensitas energi (kWh/unit), baseline, deviasi dan estimasi biaya kelebihan.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34155"/>
                </a:solidFill>
                <a:latin typeface="Arial"/>
              </a:rPr>
              <a:t>• Gemini menjelaskan bukti, memisahkan fakta dari hipotesis, dan menyarankan pemeriksaan manusia.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34155"/>
                </a:solidFill>
                <a:latin typeface="Arial"/>
              </a:rPr>
              <a:t>• Semua data demo berlabel SIMULATED DATA. Tidak ada klaim penghematan.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E3A5C"/>
                </a:solidFill>
                <a:latin typeface="Arial"/>
              </a:rPr>
              <a:t>Peluang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502920" y="1234440"/>
            <a:ext cx="81381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defRPr sz="2000">
                <a:solidFill>
                  <a:srgbClr val="1E1E1E"/>
                </a:solidFill>
              </a:defRPr>
            </a:pPr>
            <a:r>
              <a:rPr sz="1150" b="0">
                <a:solidFill>
                  <a:srgbClr val="334155"/>
                </a:solidFill>
                <a:latin typeface="Arial"/>
              </a:rPr>
              <a:t>• Diferensiasi: investigasi berbasis bukti, bukan chatbot umum atau alarm ambang batas.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Setiap observasi mengutip bukti E1–E13; setiap hipotesis mencantumkan bukti yang belum tersedia.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Panel biaya menampilkan rumus dan asumsi — bukan tagihan atau penghematan terverifikasi.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Cuaca adalah konteks, bukan bukti sebab-akibat; perubahan before/after tidak diklaim sebagai akibat tindakan.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0D7D78"/>
                </a:solidFill>
                <a:latin typeface="Arial"/>
              </a:rPr>
              <a:t>• USP: alur human-in-the-loop dari deteksi → investigasi → tindakan → verifikasi.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E3A5C"/>
                </a:solidFill>
                <a:latin typeface="Arial"/>
              </a:rPr>
              <a:t>Fitur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502920" y="1234440"/>
            <a:ext cx="81381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defRPr sz="2000">
                <a:solidFill>
                  <a:srgbClr val="1E1E1E"/>
                </a:solidFill>
              </a:defRPr>
            </a:pPr>
            <a:r>
              <a:rPr sz="1150" b="0">
                <a:solidFill>
                  <a:srgbClr val="334155"/>
                </a:solidFill>
                <a:latin typeface="Arial"/>
              </a:rPr>
              <a:t>• Dasbor harian: produksi, listrik, intensitas energi dan estimasi biaya potensial.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Deteksi transparan: baseline, ambang heuristik 15% dan tingkat severity.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Investigasi AI: Gemini atau mock deterministik berlabel; output divalidasi Zod.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Bukti: 13 item (E1–E13), fakta vs hipotesis, data yang hilang dan keterbatasan.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Alur tindakan: Open / In progress / Completed dengan timestamp dan catatan.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Perbandingan before/after dengan peringatan “perubahan yang diamati saja”.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E3A5C"/>
                </a:solidFill>
                <a:latin typeface="Arial"/>
              </a:rPr>
              <a:t>Alur investigasi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96" name="Picture 95" descr="proce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1234440"/>
            <a:ext cx="8138160" cy="3560445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502920" y="4791456"/>
            <a:ext cx="813816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64748B"/>
                </a:solidFill>
                <a:latin typeface="Arial"/>
              </a:rPr>
              <a:t>Mesin deterministik menghitung; Gemini menjelaskan; manusia memutuskan. Kegagalan model disimpan sebagai FAILED.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E3A5C"/>
                </a:solidFill>
                <a:latin typeface="Arial"/>
              </a:rPr>
              <a:t>Tampilan produk — Overview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4" name="Picture 103" descr="overview-c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1234440"/>
            <a:ext cx="8138160" cy="3568922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502920" y="4791456"/>
            <a:ext cx="813816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64748B"/>
                </a:solidFill>
                <a:latin typeface="Arial"/>
              </a:rPr>
              <a:t>30 hari simulasi · 17 Sep 2026: +36,0% terhadap baseline · estimasi potensial Rp288.884.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E3A5C"/>
                </a:solidFill>
                <a:latin typeface="Arial"/>
              </a:rPr>
              <a:t>Arsitektur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12" name="Picture 111" descr="architect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1234440"/>
            <a:ext cx="8138160" cy="3560445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502920" y="4791456"/>
            <a:ext cx="813816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64748B"/>
                </a:solidFill>
                <a:latin typeface="Arial"/>
              </a:rPr>
              <a:t>Next.js → route handler → validasi → service → PostgreSQL; output Gemini divalidasi sebelum disimpan.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E3A5C"/>
                </a:solidFill>
                <a:latin typeface="Arial"/>
              </a:rPr>
              <a:t>Teknologi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1" name="TextBox 120"/>
          <p:cNvSpPr txBox="1"/>
          <p:nvPr/>
        </p:nvSpPr>
        <p:spPr>
          <a:xfrm>
            <a:off x="502920" y="1234440"/>
            <a:ext cx="81381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defRPr sz="2000">
                <a:solidFill>
                  <a:srgbClr val="1E1E1E"/>
                </a:solidFill>
              </a:defRPr>
            </a:pPr>
            <a:r>
              <a:rPr sz="1150" b="0">
                <a:solidFill>
                  <a:srgbClr val="334155"/>
                </a:solidFill>
                <a:latin typeface="Arial"/>
              </a:rPr>
              <a:t>• Next.js 16 App Router · React 19 · TypeScript 7 strict · design token CSS kustom.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PostgreSQL + Prisma 7 driver adapter · kolom decimal dan date native.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Gemini API melalui REST server-side · validasi output Zod 4 · fallback mock berlabel.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Vitest 5 (79 test) · Playwright E2E · Docker · GitHub Actions.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PostgreSQL embedded untuk lokal · target deployment: Google Cloud Run.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E3A5C"/>
                </a:solidFill>
                <a:latin typeface="Arial"/>
              </a:rPr>
              <a:t>Estimasi biaya implementasi (opsional)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502920" y="1234440"/>
            <a:ext cx="81381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Pengembangan: PostgreSQL embedded lokal + mock investigator; tanpa biaya cloud.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Deployment: Cloud Run scale-to-zero + PostgreSQL managed + token Gemini; biaya tergantung trafik dan region.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Aplikasi menampilkan estimasi potensial: kWh berlebih × tarif, beserta asumsinya.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Tidak ada klaim penghematan terverifikasi; diperlukan pengukuran before/after yang terkontrol.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E3A5C"/>
                </a:solidFill>
                <a:latin typeface="Arial"/>
              </a:rPr>
              <a:t>Tangkapan layar prototipe — data simulasi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overview-c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1261872"/>
            <a:ext cx="3566160" cy="1563910"/>
          </a:xfrm>
          <a:prstGeom prst="rect">
            <a:avLst/>
          </a:prstGeom>
        </p:spPr>
      </p:pic>
      <p:sp>
        <p:nvSpPr>
          <p:cNvPr id="137" name="TextBox 136"/>
          <p:cNvSpPr txBox="1"/>
          <p:nvPr/>
        </p:nvSpPr>
        <p:spPr>
          <a:xfrm>
            <a:off x="502920" y="2843784"/>
            <a:ext cx="356616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64748B"/>
                </a:solidFill>
                <a:latin typeface="Arial"/>
              </a:rPr>
              <a:t>Overview — KPI, tren dan antrean investigasi</a:t>
            </a:r>
          </a:p>
        </p:txBody>
      </p:sp>
      <p:pic>
        <p:nvPicPr>
          <p:cNvPr id="138" name="Picture 137" descr="investigation-c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6280" y="1261872"/>
            <a:ext cx="3566160" cy="1563910"/>
          </a:xfrm>
          <a:prstGeom prst="rect">
            <a:avLst/>
          </a:prstGeom>
        </p:spPr>
      </p:pic>
      <p:sp>
        <p:nvSpPr>
          <p:cNvPr id="139" name="TextBox 138"/>
          <p:cNvSpPr txBox="1"/>
          <p:nvPr/>
        </p:nvSpPr>
        <p:spPr>
          <a:xfrm>
            <a:off x="4526280" y="2843784"/>
            <a:ext cx="356616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64748B"/>
                </a:solidFill>
                <a:latin typeface="Arial"/>
              </a:rPr>
              <a:t>Investigasi — bukti E1–E13 dan penjelasan AI</a:t>
            </a:r>
          </a:p>
        </p:txBody>
      </p:sp>
      <p:pic>
        <p:nvPicPr>
          <p:cNvPr id="140" name="Picture 139" descr="actions-car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920" y="3127248"/>
            <a:ext cx="3566160" cy="1563910"/>
          </a:xfrm>
          <a:prstGeom prst="rect">
            <a:avLst/>
          </a:prstGeom>
        </p:spPr>
      </p:pic>
      <p:sp>
        <p:nvSpPr>
          <p:cNvPr id="141" name="TextBox 140"/>
          <p:cNvSpPr txBox="1"/>
          <p:nvPr/>
        </p:nvSpPr>
        <p:spPr>
          <a:xfrm>
            <a:off x="502920" y="4709160"/>
            <a:ext cx="356616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64748B"/>
                </a:solidFill>
                <a:latin typeface="Arial"/>
              </a:rPr>
              <a:t>Tindakan — status dan perbandingan before/after</a:t>
            </a:r>
          </a:p>
        </p:txBody>
      </p:sp>
      <p:pic>
        <p:nvPicPr>
          <p:cNvPr id="142" name="Picture 141" descr="data-car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26280" y="3127248"/>
            <a:ext cx="3566160" cy="1563910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4526280" y="4709160"/>
            <a:ext cx="356616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64748B"/>
                </a:solidFill>
                <a:latin typeface="Arial"/>
              </a:rPr>
              <a:t>Data — label sumber dan filter tanggal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E3A5C"/>
                </a:solidFill>
                <a:latin typeface="Arial"/>
              </a:rPr>
              <a:t>Performa dan verifikasi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502920" y="1234440"/>
            <a:ext cx="81381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79 test otomatis: mesin kalkulasi, validasi, kegagalan AI dan integrasi API.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3 test Playwright E2E: overview, navigasi sidebar dan alur investigasi.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Typecheck dan build produksi lulus; dataset demo 30 hari deterministik.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Health check: /api/health melaporkan status database dan provider AI.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Tidak diklaim: throughput produksi, benchmark latency, atau penghematan nyata.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E3A5C"/>
                </a:solidFill>
                <a:latin typeface="Arial"/>
              </a:rPr>
              <a:t>Roadmap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502920" y="1234440"/>
            <a:ext cx="81381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Provider cuaca nyata dengan cakupan, ketentuan, atribusi dan evaluasi rate limit.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Upload CSV dengan preview/validasi; dukungan multi-site.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Autentikasi/RBAC dan rate limit di gateway.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Studi before/after terkontrol dengan penghematan terukur.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Evaluasi model pada data operasi nyata; versioning prompt/model.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E3A5C"/>
                </a:solidFill>
                <a:latin typeface="Arial"/>
              </a:rPr>
              <a:t>Tautan submission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1" name="TextBox 160"/>
          <p:cNvSpPr txBox="1"/>
          <p:nvPr/>
        </p:nvSpPr>
        <p:spPr>
          <a:xfrm>
            <a:off x="502920" y="1234440"/>
            <a:ext cx="81381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defRPr sz="2000">
                <a:solidFill>
                  <a:srgbClr val="1E1E1E"/>
                </a:solidFill>
              </a:defRPr>
            </a:pPr>
            <a:r>
              <a:rPr sz="1150" b="0">
                <a:solidFill>
                  <a:srgbClr val="334155"/>
                </a:solidFill>
                <a:latin typeface="Arial"/>
              </a:rPr>
              <a:t>• Repositori GitHub publik: lihat form submission Hack2skill.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Video demo (&lt;3 menit): lihat form submission.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Prototipe live: lihat form submission.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Health check: /api/health (status database + provider AI).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0D7D78"/>
                </a:solidFill>
                <a:latin typeface="Arial"/>
              </a:rPr>
              <a:t>• Form submission adalah sumber utama untuk URL final.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502920" y="1325880"/>
            <a:ext cx="81381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>
                <a:solidFill>
                  <a:srgbClr val="0E3A5C"/>
                </a:solidFill>
                <a:latin typeface="Arial"/>
              </a:rPr>
              <a:t>OpsMind — AI Operational Intelligence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0D7D78"/>
                </a:solidFill>
                <a:latin typeface="Arial"/>
              </a:rPr>
              <a:t>Tanyakan: apa buktinya?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334155"/>
                </a:solidFill>
                <a:latin typeface="Arial"/>
              </a:rPr>
              <a:t>Kandidat demo: 17 Sep 2026, +36,0% di atas baseline — estimasi potensial, bukan penghematan terverifikasi.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B45309"/>
                </a:solidFill>
                <a:latin typeface="Arial"/>
              </a:rPr>
              <a:t>AI menyarankan; manusia memutuskan.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334155"/>
                </a:solidFill>
                <a:latin typeface="Arial"/>
              </a:rPr>
              <a:t>Terima kasih.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644</Words>
  <Application>Microsoft Office PowerPoint</Application>
  <PresentationFormat>On-screen Show (16:9)</PresentationFormat>
  <Paragraphs>55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Google Sans Flex SemiBold</vt:lpstr>
      <vt:lpstr>Arial</vt:lpstr>
      <vt:lpstr>Google Sans Flex Medium</vt:lpstr>
      <vt:lpstr>Google Sans Flex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El</cp:lastModifiedBy>
  <cp:revision>1</cp:revision>
  <dcterms:modified xsi:type="dcterms:W3CDTF">2026-10-16T08:55:18Z</dcterms:modified>
  <dc:title>OpsMind — AI Operational Intelligence</dc:title>
  <dc:creator>ABB Catalyst</dc:creator>
  <dc:subject>Google Cloud AI Builder Cup 2026 · JAPAC</dc:subject>
  <cp:keywords>Gemini, Cloud Run, efisiensi energi, operasi, prototipe</cp:keywords>
</cp:coreProperties>
</file>